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24" y="-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21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ACE43-8663-97BB-AB49-9488FF26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2F6FD-3773-E81C-A4C6-0D943BA94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DA7B5-A9C9-B241-B07D-8AADCB480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212D4-9F0C-649A-0969-EBDF58D44A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34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F89DF-38AD-5039-42D2-BF79EA78D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3D8B8-2936-98CF-7023-90F5353A8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10BE1A-6DBE-AC54-DA08-BA4F7B74A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37E9D-F25C-5C6A-5470-5CC9B404DB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406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34440" cy="0"/>
          </a:xfrm>
          <a:prstGeom prst="line">
            <a:avLst/>
          </a:prstGeom>
          <a:noFill/>
          <a:ln w="25400">
            <a:solidFill>
              <a:srgbClr val="32D66B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0469880" y="6446520"/>
            <a:ext cx="1234440" cy="0"/>
          </a:xfrm>
          <a:prstGeom prst="line">
            <a:avLst/>
          </a:prstGeom>
          <a:noFill/>
          <a:ln w="25400">
            <a:solidFill>
              <a:srgbClr val="2196F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2"/>
          <p:cNvSpPr/>
          <p:nvPr/>
        </p:nvSpPr>
        <p:spPr>
          <a:xfrm>
            <a:off x="5754624" y="644652"/>
            <a:ext cx="5586984" cy="5394960"/>
          </a:xfrm>
          <a:prstGeom prst="roundRect">
            <a:avLst>
              <a:gd name="adj" fmla="val 2373"/>
            </a:avLst>
          </a:prstGeom>
          <a:solidFill>
            <a:srgbClr val="000000">
              <a:alpha val="0"/>
            </a:srgbClr>
          </a:solidFill>
          <a:ln w="12700">
            <a:solidFill>
              <a:srgbClr val="32D66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6" name="Text 3"/>
          <p:cNvSpPr/>
          <p:nvPr/>
        </p:nvSpPr>
        <p:spPr>
          <a:xfrm>
            <a:off x="731520" y="144475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</a:t>
            </a:r>
            <a:endParaRPr lang="en-US" sz="4300" dirty="0"/>
          </a:p>
        </p:txBody>
      </p:sp>
      <p:sp>
        <p:nvSpPr>
          <p:cNvPr id="7" name="Shape 4"/>
          <p:cNvSpPr/>
          <p:nvPr/>
        </p:nvSpPr>
        <p:spPr>
          <a:xfrm>
            <a:off x="777240" y="2240280"/>
            <a:ext cx="2194560" cy="0"/>
          </a:xfrm>
          <a:prstGeom prst="line">
            <a:avLst/>
          </a:prstGeom>
          <a:noFill/>
          <a:ln w="38100">
            <a:solidFill>
              <a:srgbClr val="32D6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777240" y="2487168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inteligente de tareas desde tu móvil y smartwatch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777240" y="3520440"/>
            <a:ext cx="1691640" cy="347472"/>
          </a:xfrm>
          <a:prstGeom prst="roundRect">
            <a:avLst>
              <a:gd name="adj" fmla="val 52632"/>
            </a:avLst>
          </a:prstGeom>
          <a:solidFill>
            <a:srgbClr val="32D66B">
              <a:alpha val="85000"/>
            </a:srgbClr>
          </a:solidFill>
          <a:ln w="12700">
            <a:solidFill>
              <a:srgbClr val="32D66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850392" y="3602736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Móvil + Smartwatch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679192" y="3520440"/>
            <a:ext cx="1856232" cy="347472"/>
          </a:xfrm>
          <a:prstGeom prst="roundRect">
            <a:avLst>
              <a:gd name="adj" fmla="val 52632"/>
            </a:avLst>
          </a:prstGeom>
          <a:solidFill>
            <a:srgbClr val="2196F3">
              <a:alpha val="85000"/>
            </a:srgbClr>
          </a:solidFill>
          <a:ln w="12700">
            <a:solidFill>
              <a:srgbClr val="2196F3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2752344" y="360273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Base de datos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502920" y="53721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</a:rPr>
              <a:t>Diego Salvador </a:t>
            </a:r>
            <a:r>
              <a:rPr lang="en-US" sz="1150" dirty="0" err="1">
                <a:solidFill>
                  <a:schemeClr val="bg1"/>
                </a:solidFill>
              </a:rPr>
              <a:t>Tecorralco</a:t>
            </a:r>
            <a:r>
              <a:rPr lang="en-US" sz="1150" dirty="0">
                <a:solidFill>
                  <a:schemeClr val="bg1"/>
                </a:solidFill>
              </a:rPr>
              <a:t> Martinez </a:t>
            </a:r>
          </a:p>
          <a:p>
            <a:pPr marL="0" indent="0">
              <a:buNone/>
            </a:pPr>
            <a:r>
              <a:rPr lang="en-US" sz="1150" dirty="0" err="1">
                <a:solidFill>
                  <a:schemeClr val="bg1"/>
                </a:solidFill>
              </a:rPr>
              <a:t>Ailton</a:t>
            </a:r>
            <a:r>
              <a:rPr lang="en-US" sz="1150" dirty="0">
                <a:solidFill>
                  <a:schemeClr val="bg1"/>
                </a:solidFill>
              </a:rPr>
              <a:t> </a:t>
            </a:r>
            <a:r>
              <a:rPr lang="en-US" sz="1150" dirty="0" err="1">
                <a:solidFill>
                  <a:schemeClr val="bg1"/>
                </a:solidFill>
              </a:rPr>
              <a:t>Artiaga</a:t>
            </a:r>
            <a:r>
              <a:rPr lang="en-US" sz="1150" dirty="0">
                <a:solidFill>
                  <a:schemeClr val="bg1"/>
                </a:solidFill>
              </a:rPr>
              <a:t> Quiroga</a:t>
            </a:r>
          </a:p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</a:rPr>
              <a:t>Carlos </a:t>
            </a:r>
            <a:r>
              <a:rPr lang="en-US" sz="1150" dirty="0" err="1">
                <a:solidFill>
                  <a:schemeClr val="bg1"/>
                </a:solidFill>
              </a:rPr>
              <a:t>Isac</a:t>
            </a:r>
            <a:r>
              <a:rPr lang="en-US" sz="1150" dirty="0">
                <a:solidFill>
                  <a:schemeClr val="bg1"/>
                </a:solidFill>
              </a:rPr>
              <a:t> </a:t>
            </a:r>
            <a:r>
              <a:rPr lang="en-US" sz="1150" dirty="0" err="1">
                <a:solidFill>
                  <a:schemeClr val="bg1"/>
                </a:solidFill>
              </a:rPr>
              <a:t>Fosado</a:t>
            </a:r>
            <a:r>
              <a:rPr lang="en-US" sz="1150" dirty="0">
                <a:solidFill>
                  <a:schemeClr val="bg1"/>
                </a:solidFill>
              </a:rPr>
              <a:t> Escudero</a:t>
            </a:r>
          </a:p>
        </p:txBody>
      </p:sp>
      <p:sp>
        <p:nvSpPr>
          <p:cNvPr id="14" name="Text 11"/>
          <p:cNvSpPr/>
          <p:nvPr/>
        </p:nvSpPr>
        <p:spPr>
          <a:xfrm>
            <a:off x="594360" y="6446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20140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1D749EA-0AAF-4E60-877B-684F04EA4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348" y="1355684"/>
            <a:ext cx="5431536" cy="36210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34440" cy="0"/>
          </a:xfrm>
          <a:prstGeom prst="line">
            <a:avLst/>
          </a:prstGeom>
          <a:noFill/>
          <a:ln w="25400">
            <a:solidFill>
              <a:srgbClr val="32D66B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0469880" y="6446520"/>
            <a:ext cx="1234440" cy="0"/>
          </a:xfrm>
          <a:prstGeom prst="line">
            <a:avLst/>
          </a:prstGeom>
          <a:noFill/>
          <a:ln w="25400">
            <a:solidFill>
              <a:srgbClr val="2196F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85800" y="667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2252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tareas no siempre es cómodo cuando dependemos solamente del celular.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773936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111D26">
              <a:alpha val="95000"/>
            </a:srgbClr>
          </a:solidFill>
          <a:ln w="12700">
            <a:solidFill>
              <a:srgbClr val="FF98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60120" y="1993392"/>
            <a:ext cx="4919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personas tienen actividades, fechas y recordatorios, pero necesitan revisar el teléfono constantemente para no olvidar lo importante.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777240" y="3182112"/>
            <a:ext cx="2423160" cy="1115568"/>
          </a:xfrm>
          <a:prstGeom prst="roundRect">
            <a:avLst>
              <a:gd name="adj" fmla="val 9836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2196F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777240" y="3182112"/>
            <a:ext cx="54864" cy="1115568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005840" y="3383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del celular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05840" y="37124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que abrir la app cada vez que se quiere consultar un pendiente.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3182112"/>
            <a:ext cx="2423160" cy="1115568"/>
          </a:xfrm>
          <a:prstGeom prst="roundRect">
            <a:avLst>
              <a:gd name="adj" fmla="val 9836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FF98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3456432" y="3182112"/>
            <a:ext cx="54864" cy="1115568"/>
          </a:xfrm>
          <a:prstGeom prst="rect">
            <a:avLst/>
          </a:prstGeom>
          <a:solidFill>
            <a:srgbClr val="FF98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685032" y="3383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Recordatorios dispersos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85032" y="37124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tareas pueden perderse entre mensajes, notas o notificaciones.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35624" y="3182112"/>
            <a:ext cx="2423160" cy="1115568"/>
          </a:xfrm>
          <a:prstGeom prst="roundRect">
            <a:avLst>
              <a:gd name="adj" fmla="val 9836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FF4D4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6135624" y="3182112"/>
            <a:ext cx="54864" cy="1115568"/>
          </a:xfrm>
          <a:prstGeom prst="rect">
            <a:avLst/>
          </a:prstGeom>
          <a:solidFill>
            <a:srgbClr val="FF4D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364224" y="3383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Poca rapidez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64224" y="37124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una tarea debería ser más directo y accesible.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14816" y="3182112"/>
            <a:ext cx="2423160" cy="1115568"/>
          </a:xfrm>
          <a:prstGeom prst="roundRect">
            <a:avLst>
              <a:gd name="adj" fmla="val 9836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32D6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8814816" y="3182112"/>
            <a:ext cx="54864" cy="1115568"/>
          </a:xfrm>
          <a:prstGeom prst="rect">
            <a:avLst/>
          </a:prstGeom>
          <a:solidFill>
            <a:srgbClr val="32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9043416" y="3383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necesaria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043416" y="37124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simple para mantener el control diario.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498348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2D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idea clave: menos pasos para consultar lo importante.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0140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34440" cy="0"/>
          </a:xfrm>
          <a:prstGeom prst="line">
            <a:avLst/>
          </a:prstGeom>
          <a:noFill/>
          <a:ln w="25400">
            <a:solidFill>
              <a:srgbClr val="32D66B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0469880" y="6446520"/>
            <a:ext cx="1234440" cy="0"/>
          </a:xfrm>
          <a:prstGeom prst="line">
            <a:avLst/>
          </a:prstGeom>
          <a:noFill/>
          <a:ln w="25400">
            <a:solidFill>
              <a:srgbClr val="2196F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685800" y="667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solución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13232" y="12252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 organiza las tareas y las lleva hasta la muñeca.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68096" y="178308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 es un sistema de gestión de tareas que permite crear, organizar y consultar actividades desde una aplicación móvil y también desde un smartwatch.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77240" y="306324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32D6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777240" y="3063240"/>
            <a:ext cx="54864" cy="1051560"/>
          </a:xfrm>
          <a:prstGeom prst="rect">
            <a:avLst/>
          </a:prstGeom>
          <a:solidFill>
            <a:srgbClr val="32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1005840" y="32644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005840" y="35935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Crear, consultar y organizar actividades.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520440" y="306324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2196F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3520440" y="3063240"/>
            <a:ext cx="54864" cy="1051560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3749040" y="32644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3749040" y="35935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Visualizar actividades por fecha.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" y="443484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FF98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5"/>
          <p:cNvSpPr/>
          <p:nvPr/>
        </p:nvSpPr>
        <p:spPr>
          <a:xfrm>
            <a:off x="777240" y="4434840"/>
            <a:ext cx="54864" cy="1051560"/>
          </a:xfrm>
          <a:prstGeom prst="rect">
            <a:avLst/>
          </a:prstGeom>
          <a:solidFill>
            <a:srgbClr val="FF98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1005840" y="46360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Recordatorios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005840" y="49651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presente lo pendiente.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520440" y="443484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00E0C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19"/>
          <p:cNvSpPr/>
          <p:nvPr/>
        </p:nvSpPr>
        <p:spPr>
          <a:xfrm>
            <a:off x="3520440" y="4434840"/>
            <a:ext cx="54864" cy="1051560"/>
          </a:xfrm>
          <a:prstGeom prst="rect">
            <a:avLst/>
          </a:prstGeom>
          <a:solidFill>
            <a:srgbClr val="00E0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3749040" y="46360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rápido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3749040" y="49651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información importante desde el reloj.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94360" y="6446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20140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AF2B448D-AAEC-4551-BEAC-BB1DEF68DB71}"/>
              </a:ext>
            </a:extLst>
          </p:cNvPr>
          <p:cNvSpPr/>
          <p:nvPr/>
        </p:nvSpPr>
        <p:spPr>
          <a:xfrm>
            <a:off x="6641254" y="795528"/>
            <a:ext cx="5394960" cy="5394960"/>
          </a:xfrm>
          <a:prstGeom prst="roundRect">
            <a:avLst>
              <a:gd name="adj" fmla="val 2373"/>
            </a:avLst>
          </a:prstGeom>
          <a:solidFill>
            <a:srgbClr val="000000">
              <a:alpha val="0"/>
            </a:srgbClr>
          </a:solidFill>
          <a:ln w="12700">
            <a:solidFill>
              <a:srgbClr val="32D66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8" name="Image 0" descr="/mnt/data/cover_slide1_right.jpg">
            <a:extLst>
              <a:ext uri="{FF2B5EF4-FFF2-40B4-BE49-F238E27FC236}">
                <a16:creationId xmlns:a16="http://schemas.microsoft.com/office/drawing/2014/main" id="{9C176ABB-F3A4-44D3-8049-14BCFA5429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35" b="3135"/>
          <a:stretch/>
        </p:blipFill>
        <p:spPr>
          <a:xfrm>
            <a:off x="6696118" y="905256"/>
            <a:ext cx="5047488" cy="50474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34440" cy="0"/>
          </a:xfrm>
          <a:prstGeom prst="line">
            <a:avLst/>
          </a:prstGeom>
          <a:noFill/>
          <a:ln w="25400">
            <a:solidFill>
              <a:srgbClr val="32D66B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0469880" y="6446520"/>
            <a:ext cx="1234440" cy="0"/>
          </a:xfrm>
          <a:prstGeom prst="line">
            <a:avLst/>
          </a:prstGeom>
          <a:noFill/>
          <a:ln w="25400">
            <a:solidFill>
              <a:srgbClr val="2196F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85800" y="667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funciona?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2252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conecta varios componentes en un solo flujo.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2029968" cy="1261872"/>
          </a:xfrm>
          <a:prstGeom prst="roundRect">
            <a:avLst>
              <a:gd name="adj" fmla="val 10145"/>
            </a:avLst>
          </a:prstGeom>
          <a:solidFill>
            <a:srgbClr val="111D26">
              <a:alpha val="98000"/>
            </a:srgbClr>
          </a:solidFill>
          <a:ln w="16510">
            <a:solidFill>
              <a:srgbClr val="32D66B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14400" y="24140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móvil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41832" y="2816352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crea y organiza tareas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2807208" y="2825496"/>
            <a:ext cx="512064" cy="0"/>
          </a:xfrm>
          <a:prstGeom prst="line">
            <a:avLst/>
          </a:prstGeom>
          <a:noFill/>
          <a:ln w="25400">
            <a:solidFill>
              <a:srgbClr val="32D66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337560" y="2194560"/>
            <a:ext cx="2029968" cy="1261872"/>
          </a:xfrm>
          <a:prstGeom prst="roundRect">
            <a:avLst>
              <a:gd name="adj" fmla="val 10145"/>
            </a:avLst>
          </a:prstGeom>
          <a:solidFill>
            <a:srgbClr val="111D26">
              <a:alpha val="98000"/>
            </a:srgbClr>
          </a:solidFill>
          <a:ln w="16510">
            <a:solidFill>
              <a:srgbClr val="2196F3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474720" y="24140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API REST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02152" y="2816352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 solicitudes y comunica servicios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367528" y="2825496"/>
            <a:ext cx="512064" cy="0"/>
          </a:xfrm>
          <a:prstGeom prst="line">
            <a:avLst/>
          </a:prstGeom>
          <a:noFill/>
          <a:ln w="25400">
            <a:solidFill>
              <a:srgbClr val="32D66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897880" y="2194560"/>
            <a:ext cx="2029968" cy="1261872"/>
          </a:xfrm>
          <a:prstGeom prst="roundRect">
            <a:avLst>
              <a:gd name="adj" fmla="val 10145"/>
            </a:avLst>
          </a:prstGeom>
          <a:solidFill>
            <a:srgbClr val="111D26">
              <a:alpha val="98000"/>
            </a:srgbClr>
          </a:solidFill>
          <a:ln w="16510">
            <a:solidFill>
              <a:srgbClr val="FF9800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035040" y="24140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62472" y="2816352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usuarios, tareas y estados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927848" y="2825496"/>
            <a:ext cx="512064" cy="0"/>
          </a:xfrm>
          <a:prstGeom prst="line">
            <a:avLst/>
          </a:prstGeom>
          <a:noFill/>
          <a:ln w="25400">
            <a:solidFill>
              <a:srgbClr val="32D66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8458200" y="2194560"/>
            <a:ext cx="2029968" cy="1261872"/>
          </a:xfrm>
          <a:prstGeom prst="roundRect">
            <a:avLst>
              <a:gd name="adj" fmla="val 10145"/>
            </a:avLst>
          </a:prstGeom>
          <a:solidFill>
            <a:srgbClr val="111D26">
              <a:alpha val="98000"/>
            </a:srgbClr>
          </a:solidFill>
          <a:ln w="16510">
            <a:solidFill>
              <a:srgbClr val="00E0C7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595360" y="24140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Smartwatch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22792" y="2816352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información rápida al usuario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1097280" y="4251960"/>
            <a:ext cx="9966960" cy="713232"/>
          </a:xfrm>
          <a:prstGeom prst="roundRect">
            <a:avLst>
              <a:gd name="adj" fmla="val 15385"/>
            </a:avLst>
          </a:prstGeom>
          <a:solidFill>
            <a:srgbClr val="15242E">
              <a:alpha val="90000"/>
            </a:srgbClr>
          </a:solidFill>
          <a:ln w="12700">
            <a:solidFill>
              <a:srgbClr val="32D66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1325880" y="4480560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backend centraliza la información para que las tareas estén disponibles entre los dispositivos.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594360" y="6446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0140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34440" cy="0"/>
          </a:xfrm>
          <a:prstGeom prst="line">
            <a:avLst/>
          </a:prstGeom>
          <a:noFill/>
          <a:ln w="25400">
            <a:solidFill>
              <a:srgbClr val="32D66B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0469880" y="6446520"/>
            <a:ext cx="1234440" cy="0"/>
          </a:xfrm>
          <a:prstGeom prst="line">
            <a:avLst/>
          </a:prstGeom>
          <a:noFill/>
          <a:ln w="25400">
            <a:solidFill>
              <a:srgbClr val="2196F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85800" y="667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principales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2252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el usuario puede hacer dentro de TaskSyncPro.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3337560" cy="1170432"/>
          </a:xfrm>
          <a:prstGeom prst="roundRect">
            <a:avLst>
              <a:gd name="adj" fmla="val 9375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32D6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54864" cy="1170432"/>
          </a:xfrm>
          <a:prstGeom prst="rect">
            <a:avLst/>
          </a:prstGeom>
          <a:solidFill>
            <a:srgbClr val="32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005840" y="20299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tareas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23591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Crear, editar y consultar actividades.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1828800"/>
            <a:ext cx="3337560" cy="1170432"/>
          </a:xfrm>
          <a:prstGeom prst="roundRect">
            <a:avLst>
              <a:gd name="adj" fmla="val 9375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2196F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526280" y="1828800"/>
            <a:ext cx="54864" cy="1170432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754880" y="20299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Fechas y horarios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54880" y="23591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Asignar momento límite o recordatorio.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75320" y="1828800"/>
            <a:ext cx="3337560" cy="1170432"/>
          </a:xfrm>
          <a:prstGeom prst="roundRect">
            <a:avLst>
              <a:gd name="adj" fmla="val 9375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FF98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275320" y="1828800"/>
            <a:ext cx="54864" cy="1170432"/>
          </a:xfrm>
          <a:prstGeom prst="rect">
            <a:avLst/>
          </a:prstGeom>
          <a:solidFill>
            <a:srgbClr val="FF98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503920" y="20299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03920" y="23591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las actividades por tipo.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3429000"/>
            <a:ext cx="3337560" cy="1170432"/>
          </a:xfrm>
          <a:prstGeom prst="roundRect">
            <a:avLst>
              <a:gd name="adj" fmla="val 9375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00E0C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777240" y="3429000"/>
            <a:ext cx="54864" cy="1170432"/>
          </a:xfrm>
          <a:prstGeom prst="rect">
            <a:avLst/>
          </a:prstGeom>
          <a:solidFill>
            <a:srgbClr val="00E0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1005840" y="3630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05840" y="39593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Diferenciar pendientes y terminadas.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26280" y="3429000"/>
            <a:ext cx="3337560" cy="1170432"/>
          </a:xfrm>
          <a:prstGeom prst="roundRect">
            <a:avLst>
              <a:gd name="adj" fmla="val 9375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2196F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526280" y="3429000"/>
            <a:ext cx="54864" cy="1170432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4754880" y="3630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754880" y="39593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Visualizar actividades por día.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75320" y="3429000"/>
            <a:ext cx="3337560" cy="1170432"/>
          </a:xfrm>
          <a:prstGeom prst="roundRect">
            <a:avLst>
              <a:gd name="adj" fmla="val 9375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FF4D4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8275320" y="3429000"/>
            <a:ext cx="54864" cy="1170432"/>
          </a:xfrm>
          <a:prstGeom prst="rect">
            <a:avLst/>
          </a:prstGeom>
          <a:solidFill>
            <a:srgbClr val="FF4D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8503920" y="3630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Recordatorios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503920" y="39593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Recibir avisos importantes.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4360" y="6446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0140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D29E542C-67DE-9D2E-D330-8587C9ACDB03}"/>
              </a:ext>
            </a:extLst>
          </p:cNvPr>
          <p:cNvSpPr/>
          <p:nvPr/>
        </p:nvSpPr>
        <p:spPr>
          <a:xfrm>
            <a:off x="502920" y="384048"/>
            <a:ext cx="1234440" cy="0"/>
          </a:xfrm>
          <a:prstGeom prst="line">
            <a:avLst/>
          </a:prstGeom>
          <a:noFill/>
          <a:ln w="25400">
            <a:solidFill>
              <a:srgbClr val="32D66B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54413523-E731-0B7C-CA20-2BC159CABD13}"/>
              </a:ext>
            </a:extLst>
          </p:cNvPr>
          <p:cNvSpPr/>
          <p:nvPr/>
        </p:nvSpPr>
        <p:spPr>
          <a:xfrm>
            <a:off x="10469880" y="6446520"/>
            <a:ext cx="1234440" cy="0"/>
          </a:xfrm>
          <a:prstGeom prst="line">
            <a:avLst/>
          </a:prstGeom>
          <a:noFill/>
          <a:ln w="25400">
            <a:solidFill>
              <a:srgbClr val="2196F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60C441DB-3810-2596-4E12-E340A8D596F8}"/>
              </a:ext>
            </a:extLst>
          </p:cNvPr>
          <p:cNvSpPr/>
          <p:nvPr/>
        </p:nvSpPr>
        <p:spPr>
          <a:xfrm>
            <a:off x="685800" y="667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 en el smartwatch</a:t>
            </a:r>
            <a:endParaRPr lang="en-US" sz="3000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5FB1441E-9AA4-AF34-6CB8-A3605F58EA8F}"/>
              </a:ext>
            </a:extLst>
          </p:cNvPr>
          <p:cNvSpPr/>
          <p:nvPr/>
        </p:nvSpPr>
        <p:spPr>
          <a:xfrm>
            <a:off x="713232" y="12252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elemento que hace más interesante al proyecto.</a:t>
            </a:r>
            <a:endParaRPr lang="en-US" sz="135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52F2F4FB-4E9F-035C-F70D-E44579D750DD}"/>
              </a:ext>
            </a:extLst>
          </p:cNvPr>
          <p:cNvSpPr/>
          <p:nvPr/>
        </p:nvSpPr>
        <p:spPr>
          <a:xfrm>
            <a:off x="777240" y="169164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smartwatch funciona como una extensión de TaskSyncPro para consultar la información más importante sin depender siempre del teléfono.</a:t>
            </a:r>
            <a:endParaRPr lang="en-US" sz="1500" dirty="0"/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A9EE32C6-D63E-FDB2-ACAB-1411F76DE640}"/>
              </a:ext>
            </a:extLst>
          </p:cNvPr>
          <p:cNvSpPr/>
          <p:nvPr/>
        </p:nvSpPr>
        <p:spPr>
          <a:xfrm>
            <a:off x="777240" y="2788920"/>
            <a:ext cx="2331720" cy="1024128"/>
          </a:xfrm>
          <a:prstGeom prst="roundRect">
            <a:avLst>
              <a:gd name="adj" fmla="val 10714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32D6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793D6835-EFB7-98A1-B437-7E3903E088B4}"/>
              </a:ext>
            </a:extLst>
          </p:cNvPr>
          <p:cNvSpPr/>
          <p:nvPr/>
        </p:nvSpPr>
        <p:spPr>
          <a:xfrm>
            <a:off x="777240" y="2788920"/>
            <a:ext cx="54864" cy="1024128"/>
          </a:xfrm>
          <a:prstGeom prst="rect">
            <a:avLst/>
          </a:prstGeom>
          <a:solidFill>
            <a:srgbClr val="32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5A8E127F-B263-22DB-59FB-54D3BFC9302E}"/>
              </a:ext>
            </a:extLst>
          </p:cNvPr>
          <p:cNvSpPr/>
          <p:nvPr/>
        </p:nvSpPr>
        <p:spPr>
          <a:xfrm>
            <a:off x="1005840" y="29900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tareas</a:t>
            </a:r>
            <a:endParaRPr lang="en-US" sz="1450" dirty="0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C3E1864A-5694-799C-3733-38EDBD31178F}"/>
              </a:ext>
            </a:extLst>
          </p:cNvPr>
          <p:cNvSpPr/>
          <p:nvPr/>
        </p:nvSpPr>
        <p:spPr>
          <a:xfrm>
            <a:off x="1005840" y="3319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actividades desde la muñeca.</a:t>
            </a:r>
            <a:endParaRPr lang="en-US" sz="1050" dirty="0"/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28DD5CD6-9F74-2617-71DC-35DF0346D59E}"/>
              </a:ext>
            </a:extLst>
          </p:cNvPr>
          <p:cNvSpPr/>
          <p:nvPr/>
        </p:nvSpPr>
        <p:spPr>
          <a:xfrm>
            <a:off x="3337560" y="2788920"/>
            <a:ext cx="2331720" cy="1024128"/>
          </a:xfrm>
          <a:prstGeom prst="roundRect">
            <a:avLst>
              <a:gd name="adj" fmla="val 10714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FF98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Shape 10">
            <a:extLst>
              <a:ext uri="{FF2B5EF4-FFF2-40B4-BE49-F238E27FC236}">
                <a16:creationId xmlns:a16="http://schemas.microsoft.com/office/drawing/2014/main" id="{7D0978CF-6F18-EAE9-886D-50E680118BE3}"/>
              </a:ext>
            </a:extLst>
          </p:cNvPr>
          <p:cNvSpPr/>
          <p:nvPr/>
        </p:nvSpPr>
        <p:spPr>
          <a:xfrm>
            <a:off x="3337560" y="2788920"/>
            <a:ext cx="54864" cy="1024128"/>
          </a:xfrm>
          <a:prstGeom prst="rect">
            <a:avLst/>
          </a:prstGeom>
          <a:solidFill>
            <a:srgbClr val="FF98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A1FB3832-2454-9B9E-C778-C4BB76F4A01B}"/>
              </a:ext>
            </a:extLst>
          </p:cNvPr>
          <p:cNvSpPr/>
          <p:nvPr/>
        </p:nvSpPr>
        <p:spPr>
          <a:xfrm>
            <a:off x="3566160" y="29900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Pendientes</a:t>
            </a:r>
            <a:endParaRPr lang="en-US" sz="1450" dirty="0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874630E6-ED2E-4DE7-1A81-0CB78432B885}"/>
              </a:ext>
            </a:extLst>
          </p:cNvPr>
          <p:cNvSpPr/>
          <p:nvPr/>
        </p:nvSpPr>
        <p:spPr>
          <a:xfrm>
            <a:off x="3566160" y="3319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lo que falta por hacer.</a:t>
            </a:r>
            <a:endParaRPr lang="en-US" sz="1050" dirty="0"/>
          </a:p>
        </p:txBody>
      </p:sp>
      <p:sp>
        <p:nvSpPr>
          <p:cNvPr id="57" name="Shape 13">
            <a:extLst>
              <a:ext uri="{FF2B5EF4-FFF2-40B4-BE49-F238E27FC236}">
                <a16:creationId xmlns:a16="http://schemas.microsoft.com/office/drawing/2014/main" id="{0A55978E-0A48-1960-4052-F1D0E03B233E}"/>
              </a:ext>
            </a:extLst>
          </p:cNvPr>
          <p:cNvSpPr/>
          <p:nvPr/>
        </p:nvSpPr>
        <p:spPr>
          <a:xfrm>
            <a:off x="777240" y="4160520"/>
            <a:ext cx="2331720" cy="1024128"/>
          </a:xfrm>
          <a:prstGeom prst="roundRect">
            <a:avLst>
              <a:gd name="adj" fmla="val 10714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00E0C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Shape 14">
            <a:extLst>
              <a:ext uri="{FF2B5EF4-FFF2-40B4-BE49-F238E27FC236}">
                <a16:creationId xmlns:a16="http://schemas.microsoft.com/office/drawing/2014/main" id="{88E92C47-0632-8A25-EC59-F6A82853A0F0}"/>
              </a:ext>
            </a:extLst>
          </p:cNvPr>
          <p:cNvSpPr/>
          <p:nvPr/>
        </p:nvSpPr>
        <p:spPr>
          <a:xfrm>
            <a:off x="777240" y="4160520"/>
            <a:ext cx="54864" cy="1024128"/>
          </a:xfrm>
          <a:prstGeom prst="rect">
            <a:avLst/>
          </a:prstGeom>
          <a:solidFill>
            <a:srgbClr val="00E0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8DAD7760-9A4F-608A-2C39-1DB6733A7120}"/>
              </a:ext>
            </a:extLst>
          </p:cNvPr>
          <p:cNvSpPr/>
          <p:nvPr/>
        </p:nvSpPr>
        <p:spPr>
          <a:xfrm>
            <a:off x="1005840" y="4361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Terminadas</a:t>
            </a:r>
            <a:endParaRPr lang="en-US" sz="1450" dirty="0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2B8FFBDC-5C2D-6F59-96E2-3953E8C37F23}"/>
              </a:ext>
            </a:extLst>
          </p:cNvPr>
          <p:cNvSpPr/>
          <p:nvPr/>
        </p:nvSpPr>
        <p:spPr>
          <a:xfrm>
            <a:off x="1005840" y="4690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tareas completadas.</a:t>
            </a:r>
            <a:endParaRPr lang="en-US" sz="1050" dirty="0"/>
          </a:p>
        </p:txBody>
      </p:sp>
      <p:sp>
        <p:nvSpPr>
          <p:cNvPr id="65" name="Shape 17">
            <a:extLst>
              <a:ext uri="{FF2B5EF4-FFF2-40B4-BE49-F238E27FC236}">
                <a16:creationId xmlns:a16="http://schemas.microsoft.com/office/drawing/2014/main" id="{D34AEE43-DB33-9E33-5B93-7410A6FF7254}"/>
              </a:ext>
            </a:extLst>
          </p:cNvPr>
          <p:cNvSpPr/>
          <p:nvPr/>
        </p:nvSpPr>
        <p:spPr>
          <a:xfrm>
            <a:off x="3337560" y="4160520"/>
            <a:ext cx="2331720" cy="1024128"/>
          </a:xfrm>
          <a:prstGeom prst="roundRect">
            <a:avLst>
              <a:gd name="adj" fmla="val 10714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2196F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Shape 18">
            <a:extLst>
              <a:ext uri="{FF2B5EF4-FFF2-40B4-BE49-F238E27FC236}">
                <a16:creationId xmlns:a16="http://schemas.microsoft.com/office/drawing/2014/main" id="{EDEA4FE7-4B4C-BD89-C6A7-5D38A351B154}"/>
              </a:ext>
            </a:extLst>
          </p:cNvPr>
          <p:cNvSpPr/>
          <p:nvPr/>
        </p:nvSpPr>
        <p:spPr>
          <a:xfrm>
            <a:off x="3337560" y="4160520"/>
            <a:ext cx="54864" cy="1024128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Text 19">
            <a:extLst>
              <a:ext uri="{FF2B5EF4-FFF2-40B4-BE49-F238E27FC236}">
                <a16:creationId xmlns:a16="http://schemas.microsoft.com/office/drawing/2014/main" id="{998E1B94-3F69-087D-286C-A1BBF2AB590B}"/>
              </a:ext>
            </a:extLst>
          </p:cNvPr>
          <p:cNvSpPr/>
          <p:nvPr/>
        </p:nvSpPr>
        <p:spPr>
          <a:xfrm>
            <a:off x="3566160" y="4361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</a:t>
            </a:r>
            <a:endParaRPr lang="en-US" sz="1450" dirty="0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0B48CB6A-0C79-86F9-4DE6-42939E1806EF}"/>
              </a:ext>
            </a:extLst>
          </p:cNvPr>
          <p:cNvSpPr/>
          <p:nvPr/>
        </p:nvSpPr>
        <p:spPr>
          <a:xfrm>
            <a:off x="3566160" y="4690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fechas importantes.</a:t>
            </a:r>
            <a:endParaRPr lang="en-US" sz="1050" dirty="0"/>
          </a:p>
        </p:txBody>
      </p:sp>
      <p:sp>
        <p:nvSpPr>
          <p:cNvPr id="73" name="Shape 21">
            <a:extLst>
              <a:ext uri="{FF2B5EF4-FFF2-40B4-BE49-F238E27FC236}">
                <a16:creationId xmlns:a16="http://schemas.microsoft.com/office/drawing/2014/main" id="{54331AB0-9432-C238-8B3A-E6BDE2C119F8}"/>
              </a:ext>
            </a:extLst>
          </p:cNvPr>
          <p:cNvSpPr/>
          <p:nvPr/>
        </p:nvSpPr>
        <p:spPr>
          <a:xfrm>
            <a:off x="6812280" y="1627632"/>
            <a:ext cx="4206240" cy="4251960"/>
          </a:xfrm>
          <a:prstGeom prst="roundRect">
            <a:avLst>
              <a:gd name="adj" fmla="val 2609"/>
            </a:avLst>
          </a:prstGeom>
          <a:solidFill>
            <a:srgbClr val="15242E">
              <a:alpha val="90000"/>
            </a:srgbClr>
          </a:solidFill>
          <a:ln w="15240">
            <a:solidFill>
              <a:srgbClr val="32D66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9606EE1F-D5A1-DCAA-6085-542EC4408D86}"/>
              </a:ext>
            </a:extLst>
          </p:cNvPr>
          <p:cNvSpPr/>
          <p:nvPr/>
        </p:nvSpPr>
        <p:spPr>
          <a:xfrm>
            <a:off x="7040880" y="36164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aquí una pantalla del emulador Wear OS</a:t>
            </a:r>
            <a:endParaRPr lang="en-US" sz="1100" dirty="0"/>
          </a:p>
        </p:txBody>
      </p:sp>
      <p:sp>
        <p:nvSpPr>
          <p:cNvPr id="77" name="Shape 24">
            <a:extLst>
              <a:ext uri="{FF2B5EF4-FFF2-40B4-BE49-F238E27FC236}">
                <a16:creationId xmlns:a16="http://schemas.microsoft.com/office/drawing/2014/main" id="{2EFA0A9F-2999-7177-3118-F4468AD27D49}"/>
              </a:ext>
            </a:extLst>
          </p:cNvPr>
          <p:cNvSpPr/>
          <p:nvPr/>
        </p:nvSpPr>
        <p:spPr>
          <a:xfrm>
            <a:off x="7269480" y="5468112"/>
            <a:ext cx="3291840" cy="0"/>
          </a:xfrm>
          <a:prstGeom prst="line">
            <a:avLst/>
          </a:prstGeom>
          <a:noFill/>
          <a:ln w="12700">
            <a:solidFill>
              <a:srgbClr val="00E0C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Text 26">
            <a:extLst>
              <a:ext uri="{FF2B5EF4-FFF2-40B4-BE49-F238E27FC236}">
                <a16:creationId xmlns:a16="http://schemas.microsoft.com/office/drawing/2014/main" id="{D749C921-2F0B-A9D7-745F-46260D14AF68}"/>
              </a:ext>
            </a:extLst>
          </p:cNvPr>
          <p:cNvSpPr/>
          <p:nvPr/>
        </p:nvSpPr>
        <p:spPr>
          <a:xfrm>
            <a:off x="594360" y="6446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</a:t>
            </a:r>
            <a:endParaRPr lang="en-US" sz="850" dirty="0"/>
          </a:p>
        </p:txBody>
      </p:sp>
      <p:sp>
        <p:nvSpPr>
          <p:cNvPr id="81" name="Text 27">
            <a:extLst>
              <a:ext uri="{FF2B5EF4-FFF2-40B4-BE49-F238E27FC236}">
                <a16:creationId xmlns:a16="http://schemas.microsoft.com/office/drawing/2014/main" id="{11B70D79-9828-4AF3-E457-0D7391EE5239}"/>
              </a:ext>
            </a:extLst>
          </p:cNvPr>
          <p:cNvSpPr/>
          <p:nvPr/>
        </p:nvSpPr>
        <p:spPr>
          <a:xfrm>
            <a:off x="1120140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pic>
        <p:nvPicPr>
          <p:cNvPr id="83" name="Imagen 82">
            <a:extLst>
              <a:ext uri="{FF2B5EF4-FFF2-40B4-BE49-F238E27FC236}">
                <a16:creationId xmlns:a16="http://schemas.microsoft.com/office/drawing/2014/main" id="{C16C5E23-7855-F81B-372B-B333EAEC3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3780" y="1884682"/>
            <a:ext cx="3824088" cy="37480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34440" cy="0"/>
          </a:xfrm>
          <a:prstGeom prst="line">
            <a:avLst/>
          </a:prstGeom>
          <a:noFill/>
          <a:ln w="25400">
            <a:solidFill>
              <a:srgbClr val="32D66B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0469880" y="6446520"/>
            <a:ext cx="1234440" cy="0"/>
          </a:xfrm>
          <a:prstGeom prst="line">
            <a:avLst/>
          </a:prstGeom>
          <a:noFill/>
          <a:ln w="25400">
            <a:solidFill>
              <a:srgbClr val="2196F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85800" y="667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del usuario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2252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flujo simple desde la creación hasta la consulta.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1143000" cy="1143000"/>
          </a:xfrm>
          <a:prstGeom prst="ellipse">
            <a:avLst/>
          </a:prstGeom>
          <a:solidFill>
            <a:srgbClr val="2196F3">
              <a:alpha val="90000"/>
            </a:srgbClr>
          </a:solidFill>
          <a:ln w="1524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49808" y="2642617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tarea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8328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la app principal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1947672" y="2816352"/>
            <a:ext cx="950976" cy="0"/>
          </a:xfrm>
          <a:prstGeom prst="line">
            <a:avLst/>
          </a:prstGeom>
          <a:noFill/>
          <a:ln w="25400">
            <a:solidFill>
              <a:srgbClr val="32D66B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044952" y="2240280"/>
            <a:ext cx="1143000" cy="1143000"/>
          </a:xfrm>
          <a:prstGeom prst="ellipse">
            <a:avLst/>
          </a:prstGeom>
          <a:solidFill>
            <a:srgbClr val="32D66B">
              <a:alpha val="90000"/>
            </a:srgbClr>
          </a:solidFill>
          <a:ln w="15240">
            <a:solidFill>
              <a:srgbClr val="32D6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044952" y="2642617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24912" y="3611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datos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0604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base de datos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215384" y="2816352"/>
            <a:ext cx="950976" cy="0"/>
          </a:xfrm>
          <a:prstGeom prst="line">
            <a:avLst/>
          </a:prstGeom>
          <a:noFill/>
          <a:ln w="25400">
            <a:solidFill>
              <a:srgbClr val="32D66B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5312664" y="2240280"/>
            <a:ext cx="1143000" cy="1143000"/>
          </a:xfrm>
          <a:prstGeom prst="ellipse">
            <a:avLst/>
          </a:prstGeom>
          <a:solidFill>
            <a:srgbClr val="00E0C7">
              <a:alpha val="90000"/>
            </a:srgbClr>
          </a:solidFill>
          <a:ln w="15240">
            <a:solidFill>
              <a:srgbClr val="00E0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285232" y="2640585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92624" y="3611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73752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disponible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483096" y="2816352"/>
            <a:ext cx="950976" cy="0"/>
          </a:xfrm>
          <a:prstGeom prst="line">
            <a:avLst/>
          </a:prstGeom>
          <a:noFill/>
          <a:ln w="25400">
            <a:solidFill>
              <a:srgbClr val="32D66B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7571232" y="2235708"/>
            <a:ext cx="1143000" cy="1143000"/>
          </a:xfrm>
          <a:prstGeom prst="ellipse">
            <a:avLst/>
          </a:prstGeom>
          <a:solidFill>
            <a:srgbClr val="FF9800">
              <a:alpha val="90000"/>
            </a:srgbClr>
          </a:solidFill>
          <a:ln w="1524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7525512" y="26471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60336" y="3611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41464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rápido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8750808" y="2816352"/>
            <a:ext cx="950976" cy="0"/>
          </a:xfrm>
          <a:prstGeom prst="line">
            <a:avLst/>
          </a:prstGeom>
          <a:noFill/>
          <a:ln w="25400">
            <a:solidFill>
              <a:srgbClr val="32D66B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9848088" y="2240280"/>
            <a:ext cx="1143000" cy="1143000"/>
          </a:xfrm>
          <a:prstGeom prst="ellipse">
            <a:avLst/>
          </a:prstGeom>
          <a:solidFill>
            <a:srgbClr val="32D66B">
              <a:alpha val="90000"/>
            </a:srgbClr>
          </a:solidFill>
          <a:ln w="15240">
            <a:solidFill>
              <a:srgbClr val="32D6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9848088" y="2640585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528048" y="3611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409176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el pendiente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1325880" y="516636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</a:t>
            </a:r>
            <a:r>
              <a:rPr lang="en-US" sz="1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r>
              <a:rPr lang="en-US" sz="1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reducir los pasos necesarios para consultar una actividad importante.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94360" y="6446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0140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34440" cy="0"/>
          </a:xfrm>
          <a:prstGeom prst="line">
            <a:avLst/>
          </a:prstGeom>
          <a:noFill/>
          <a:ln w="25400">
            <a:solidFill>
              <a:srgbClr val="32D66B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0469880" y="6446520"/>
            <a:ext cx="1234440" cy="0"/>
          </a:xfrm>
          <a:prstGeom prst="line">
            <a:avLst/>
          </a:prstGeom>
          <a:noFill/>
          <a:ln w="25400">
            <a:solidFill>
              <a:srgbClr val="2196F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85800" y="667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del proyecto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2252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utilizados para construir el ecosistema.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2651760" cy="1207008"/>
          </a:xfrm>
          <a:prstGeom prst="roundRect">
            <a:avLst>
              <a:gd name="adj" fmla="val 9091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32D6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54864" cy="1207008"/>
          </a:xfrm>
          <a:prstGeom prst="rect">
            <a:avLst/>
          </a:prstGeom>
          <a:solidFill>
            <a:srgbClr val="32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005840" y="20299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móvil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23591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para gestionar tareas y calendario.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0" y="1828800"/>
            <a:ext cx="2651760" cy="1207008"/>
          </a:xfrm>
          <a:prstGeom prst="roundRect">
            <a:avLst>
              <a:gd name="adj" fmla="val 9091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2196F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657600" y="1828800"/>
            <a:ext cx="54864" cy="1207008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886200" y="20299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 OS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886200" y="23591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 adaptadas a reloj inteligente.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1828800"/>
            <a:ext cx="2651760" cy="1207008"/>
          </a:xfrm>
          <a:prstGeom prst="roundRect">
            <a:avLst>
              <a:gd name="adj" fmla="val 9091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FF98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6537960" y="1828800"/>
            <a:ext cx="54864" cy="1207008"/>
          </a:xfrm>
          <a:prstGeom prst="rect">
            <a:avLst/>
          </a:prstGeom>
          <a:solidFill>
            <a:srgbClr val="FF98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766560" y="20299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API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0" y="23591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entre dispositivos y servicios.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418320" y="1828800"/>
            <a:ext cx="2011680" cy="1207008"/>
          </a:xfrm>
          <a:prstGeom prst="roundRect">
            <a:avLst>
              <a:gd name="adj" fmla="val 9091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00E0C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9418320" y="1828800"/>
            <a:ext cx="54864" cy="1207008"/>
          </a:xfrm>
          <a:prstGeom prst="rect">
            <a:avLst/>
          </a:prstGeom>
          <a:solidFill>
            <a:srgbClr val="00E0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9646920" y="20299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646920" y="23591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 de datos.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508760" y="3840480"/>
            <a:ext cx="9144000" cy="950976"/>
          </a:xfrm>
          <a:prstGeom prst="roundRect">
            <a:avLst>
              <a:gd name="adj" fmla="val 13462"/>
            </a:avLst>
          </a:prstGeom>
          <a:solidFill>
            <a:srgbClr val="15242E">
              <a:alpha val="92000"/>
            </a:srgbClr>
          </a:solidFill>
          <a:ln w="12700">
            <a:solidFill>
              <a:srgbClr val="32D66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1783080" y="413308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y GitHub ayudaron a trabajar en equipo, manejar ramas, subir cambios y fusionar avances del proyecto.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920240" y="52578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dirty="0">
                <a:solidFill>
                  <a:schemeClr val="bg1"/>
                </a:solidFill>
              </a:rPr>
              <a:t>https://github.com/DiegoTecorralco/TaskSyncPro</a:t>
            </a:r>
            <a:r>
              <a:rPr lang="en-US" sz="1250" dirty="0"/>
              <a:t>.git</a:t>
            </a:r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0140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34440" cy="0"/>
          </a:xfrm>
          <a:prstGeom prst="line">
            <a:avLst/>
          </a:prstGeom>
          <a:noFill/>
          <a:ln w="25400">
            <a:solidFill>
              <a:srgbClr val="32D66B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0469880" y="6446520"/>
            <a:ext cx="1234440" cy="0"/>
          </a:xfrm>
          <a:prstGeom prst="line">
            <a:avLst/>
          </a:prstGeom>
          <a:noFill/>
          <a:ln w="25400">
            <a:solidFill>
              <a:srgbClr val="2196F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85800" y="667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más interesante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2252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valor del proyecto está en la integración.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desarrollamos solamente una aplicación.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Desarrollamos un ecosistema conectado.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8680" y="3108960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32D6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68680" y="3108960"/>
            <a:ext cx="54864" cy="932688"/>
          </a:xfrm>
          <a:prstGeom prst="rect">
            <a:avLst/>
          </a:prstGeom>
          <a:solidFill>
            <a:srgbClr val="32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097280" y="33101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Móvil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97280" y="36393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 tareas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94760" y="3108960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2196F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794760" y="3108960"/>
            <a:ext cx="54864" cy="932688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023360" y="33101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023360" y="36393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 solicitudes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4407408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FF98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868680" y="4407408"/>
            <a:ext cx="54864" cy="932688"/>
          </a:xfrm>
          <a:prstGeom prst="rect">
            <a:avLst/>
          </a:prstGeom>
          <a:solidFill>
            <a:srgbClr val="FF98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097280" y="46085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97280" y="4937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la información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94760" y="4407408"/>
            <a:ext cx="2514600" cy="932688"/>
          </a:xfrm>
          <a:prstGeom prst="roundRect">
            <a:avLst>
              <a:gd name="adj" fmla="val 11765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00E0C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794760" y="4407408"/>
            <a:ext cx="54864" cy="932688"/>
          </a:xfrm>
          <a:prstGeom prst="rect">
            <a:avLst/>
          </a:prstGeom>
          <a:solidFill>
            <a:srgbClr val="00E0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023360" y="46085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Smartwatch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023360" y="4937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rápida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23760" y="1828800"/>
            <a:ext cx="3474720" cy="3429000"/>
          </a:xfrm>
          <a:prstGeom prst="roundRect">
            <a:avLst>
              <a:gd name="adj" fmla="val 4267"/>
            </a:avLst>
          </a:prstGeom>
          <a:solidFill>
            <a:srgbClr val="111D26">
              <a:alpha val="92000"/>
            </a:srgbClr>
          </a:solidFill>
          <a:ln w="12700">
            <a:solidFill>
              <a:srgbClr val="32D6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7498080" y="21762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2D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Diferenciador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71232" y="27432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integración con smartwatch permite mostrar el proyecto como una solución más completa que una app tradicional de tareas.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0" y="44622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Móvil + API + BD + Reloj</a:t>
            </a:r>
            <a:endParaRPr lang="en-US" sz="134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0140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469880" y="6446520"/>
            <a:ext cx="1234440" cy="0"/>
          </a:xfrm>
          <a:prstGeom prst="line">
            <a:avLst/>
          </a:prstGeom>
          <a:noFill/>
          <a:ln w="25400">
            <a:solidFill>
              <a:srgbClr val="2196F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594360" y="6446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0140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5622AD0E-F98A-82C9-91FA-4AB44B390BF0}"/>
              </a:ext>
            </a:extLst>
          </p:cNvPr>
          <p:cNvSpPr/>
          <p:nvPr/>
        </p:nvSpPr>
        <p:spPr>
          <a:xfrm>
            <a:off x="502920" y="384048"/>
            <a:ext cx="1234440" cy="0"/>
          </a:xfrm>
          <a:prstGeom prst="line">
            <a:avLst/>
          </a:prstGeom>
          <a:noFill/>
          <a:ln w="25400">
            <a:solidFill>
              <a:srgbClr val="32D66B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B01C5807-547A-F44A-2CD4-39A9E1DAC60C}"/>
              </a:ext>
            </a:extLst>
          </p:cNvPr>
          <p:cNvSpPr/>
          <p:nvPr/>
        </p:nvSpPr>
        <p:spPr>
          <a:xfrm>
            <a:off x="10469880" y="6446520"/>
            <a:ext cx="1234440" cy="0"/>
          </a:xfrm>
          <a:prstGeom prst="line">
            <a:avLst/>
          </a:prstGeom>
          <a:noFill/>
          <a:ln w="25400">
            <a:solidFill>
              <a:srgbClr val="2196F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245A4C41-A164-CABD-D8B9-A718E6E00B01}"/>
              </a:ext>
            </a:extLst>
          </p:cNvPr>
          <p:cNvSpPr/>
          <p:nvPr/>
        </p:nvSpPr>
        <p:spPr>
          <a:xfrm>
            <a:off x="685800" y="667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</a:t>
            </a:r>
            <a:endParaRPr lang="en-US" sz="30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32517597-49DD-6741-11EB-8D6550EB6A40}"/>
              </a:ext>
            </a:extLst>
          </p:cNvPr>
          <p:cNvSpPr/>
          <p:nvPr/>
        </p:nvSpPr>
        <p:spPr>
          <a:xfrm>
            <a:off x="713232" y="12252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 err="1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</a:t>
            </a: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</a:t>
            </a: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capturas</a:t>
            </a: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las del proyecto.</a:t>
            </a:r>
            <a:endParaRPr lang="en-US" sz="1350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5E27CB61-5A5C-FBE5-A8EC-CE8DF780CB98}"/>
              </a:ext>
            </a:extLst>
          </p:cNvPr>
          <p:cNvSpPr/>
          <p:nvPr/>
        </p:nvSpPr>
        <p:spPr>
          <a:xfrm>
            <a:off x="777240" y="1828800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15242E">
              <a:alpha val="90000"/>
            </a:srgbClr>
          </a:solidFill>
          <a:ln w="15240">
            <a:solidFill>
              <a:srgbClr val="32D66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C40D7280-C1C0-E33C-EEA7-6ABF94A600BE}"/>
              </a:ext>
            </a:extLst>
          </p:cNvPr>
          <p:cNvSpPr/>
          <p:nvPr/>
        </p:nvSpPr>
        <p:spPr>
          <a:xfrm>
            <a:off x="960120" y="20299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MÓVIL</a:t>
            </a:r>
            <a:endParaRPr lang="en-US" sz="1500" dirty="0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713204CA-3CC1-F6F2-89A8-C998CEABB545}"/>
              </a:ext>
            </a:extLst>
          </p:cNvPr>
          <p:cNvSpPr/>
          <p:nvPr/>
        </p:nvSpPr>
        <p:spPr>
          <a:xfrm>
            <a:off x="1234440" y="4754880"/>
            <a:ext cx="1691640" cy="0"/>
          </a:xfrm>
          <a:prstGeom prst="line">
            <a:avLst/>
          </a:prstGeom>
          <a:noFill/>
          <a:ln w="12700">
            <a:solidFill>
              <a:srgbClr val="00E0C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C33CB9A8-EDE0-7470-E410-82B7406FEB9B}"/>
              </a:ext>
            </a:extLst>
          </p:cNvPr>
          <p:cNvSpPr/>
          <p:nvPr/>
        </p:nvSpPr>
        <p:spPr>
          <a:xfrm>
            <a:off x="3657600" y="1828800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15242E">
              <a:alpha val="90000"/>
            </a:srgbClr>
          </a:solidFill>
          <a:ln w="15240">
            <a:solidFill>
              <a:srgbClr val="32D66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7ECB1908-1B9E-0F1E-4136-68AC8EF58012}"/>
              </a:ext>
            </a:extLst>
          </p:cNvPr>
          <p:cNvSpPr/>
          <p:nvPr/>
        </p:nvSpPr>
        <p:spPr>
          <a:xfrm>
            <a:off x="3840480" y="20299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API</a:t>
            </a:r>
            <a:endParaRPr lang="en-US" sz="150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275E1C8C-B536-4D5B-6722-6DB1228C4440}"/>
              </a:ext>
            </a:extLst>
          </p:cNvPr>
          <p:cNvSpPr/>
          <p:nvPr/>
        </p:nvSpPr>
        <p:spPr>
          <a:xfrm>
            <a:off x="3886200" y="33604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 consola o endpoint</a:t>
            </a:r>
            <a:endParaRPr lang="en-US" sz="1100" dirty="0"/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46CFD359-C695-4496-393A-35522B873AE4}"/>
              </a:ext>
            </a:extLst>
          </p:cNvPr>
          <p:cNvSpPr/>
          <p:nvPr/>
        </p:nvSpPr>
        <p:spPr>
          <a:xfrm>
            <a:off x="4114800" y="4754880"/>
            <a:ext cx="1691640" cy="0"/>
          </a:xfrm>
          <a:prstGeom prst="line">
            <a:avLst/>
          </a:prstGeom>
          <a:noFill/>
          <a:ln w="12700">
            <a:solidFill>
              <a:srgbClr val="00E0C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12">
            <a:extLst>
              <a:ext uri="{FF2B5EF4-FFF2-40B4-BE49-F238E27FC236}">
                <a16:creationId xmlns:a16="http://schemas.microsoft.com/office/drawing/2014/main" id="{744295B1-1F73-8F1E-7A38-2DA08D95CAF8}"/>
              </a:ext>
            </a:extLst>
          </p:cNvPr>
          <p:cNvSpPr/>
          <p:nvPr/>
        </p:nvSpPr>
        <p:spPr>
          <a:xfrm>
            <a:off x="6537960" y="1828800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15242E">
              <a:alpha val="90000"/>
            </a:srgbClr>
          </a:solidFill>
          <a:ln w="15240">
            <a:solidFill>
              <a:srgbClr val="32D66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879599C9-0F98-BE44-490E-3AAF8311F41A}"/>
              </a:ext>
            </a:extLst>
          </p:cNvPr>
          <p:cNvSpPr/>
          <p:nvPr/>
        </p:nvSpPr>
        <p:spPr>
          <a:xfrm>
            <a:off x="6720840" y="20299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SMARTWATCH</a:t>
            </a:r>
            <a:endParaRPr lang="en-US" sz="1500" dirty="0"/>
          </a:p>
        </p:txBody>
      </p:sp>
      <p:sp>
        <p:nvSpPr>
          <p:cNvPr id="52" name="Shape 15">
            <a:extLst>
              <a:ext uri="{FF2B5EF4-FFF2-40B4-BE49-F238E27FC236}">
                <a16:creationId xmlns:a16="http://schemas.microsoft.com/office/drawing/2014/main" id="{EEB9F5D2-1D36-B0F6-A1DB-8584B91B3DDB}"/>
              </a:ext>
            </a:extLst>
          </p:cNvPr>
          <p:cNvSpPr/>
          <p:nvPr/>
        </p:nvSpPr>
        <p:spPr>
          <a:xfrm>
            <a:off x="6995160" y="4754880"/>
            <a:ext cx="1691640" cy="0"/>
          </a:xfrm>
          <a:prstGeom prst="line">
            <a:avLst/>
          </a:prstGeom>
          <a:noFill/>
          <a:ln w="12700">
            <a:solidFill>
              <a:srgbClr val="00E0C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FE871CBE-8395-946F-E934-89E78CBD0344}"/>
              </a:ext>
            </a:extLst>
          </p:cNvPr>
          <p:cNvSpPr/>
          <p:nvPr/>
        </p:nvSpPr>
        <p:spPr>
          <a:xfrm>
            <a:off x="9418320" y="1828800"/>
            <a:ext cx="2011680" cy="3337560"/>
          </a:xfrm>
          <a:prstGeom prst="roundRect">
            <a:avLst>
              <a:gd name="adj" fmla="val 5455"/>
            </a:avLst>
          </a:prstGeom>
          <a:solidFill>
            <a:srgbClr val="15242E">
              <a:alpha val="90000"/>
            </a:srgbClr>
          </a:solidFill>
          <a:ln w="15240">
            <a:solidFill>
              <a:srgbClr val="32D66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43C0A9BD-A9EB-D528-0F8D-FC8A7C3D8660}"/>
              </a:ext>
            </a:extLst>
          </p:cNvPr>
          <p:cNvSpPr/>
          <p:nvPr/>
        </p:nvSpPr>
        <p:spPr>
          <a:xfrm>
            <a:off x="9601200" y="20299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D8E284E3-64A7-5D5E-28D2-4538163665B8}"/>
              </a:ext>
            </a:extLst>
          </p:cNvPr>
          <p:cNvSpPr/>
          <p:nvPr/>
        </p:nvSpPr>
        <p:spPr>
          <a:xfrm>
            <a:off x="9646920" y="33604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 MySQL</a:t>
            </a:r>
            <a:endParaRPr lang="en-US" sz="1100" dirty="0"/>
          </a:p>
        </p:txBody>
      </p:sp>
      <p:sp>
        <p:nvSpPr>
          <p:cNvPr id="60" name="Shape 19">
            <a:extLst>
              <a:ext uri="{FF2B5EF4-FFF2-40B4-BE49-F238E27FC236}">
                <a16:creationId xmlns:a16="http://schemas.microsoft.com/office/drawing/2014/main" id="{D94EAA2B-C8A5-B3D3-4457-2FE271D231D3}"/>
              </a:ext>
            </a:extLst>
          </p:cNvPr>
          <p:cNvSpPr/>
          <p:nvPr/>
        </p:nvSpPr>
        <p:spPr>
          <a:xfrm>
            <a:off x="9875520" y="4754880"/>
            <a:ext cx="1097280" cy="0"/>
          </a:xfrm>
          <a:prstGeom prst="line">
            <a:avLst/>
          </a:prstGeom>
          <a:noFill/>
          <a:ln w="12700">
            <a:solidFill>
              <a:srgbClr val="00E0C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F79465ED-FD97-1B8C-0220-19D9E3BDEA9D}"/>
              </a:ext>
            </a:extLst>
          </p:cNvPr>
          <p:cNvSpPr/>
          <p:nvPr/>
        </p:nvSpPr>
        <p:spPr>
          <a:xfrm>
            <a:off x="960120" y="562356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2D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 recomendado: mostrar API activa → tareas de prueba → app móvil → smartwatch.</a:t>
            </a:r>
            <a:endParaRPr lang="en-US" sz="1450" dirty="0"/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7EB0E432-3680-E9BB-49A2-5FE416182E4C}"/>
              </a:ext>
            </a:extLst>
          </p:cNvPr>
          <p:cNvSpPr/>
          <p:nvPr/>
        </p:nvSpPr>
        <p:spPr>
          <a:xfrm>
            <a:off x="594360" y="6446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</a:t>
            </a:r>
            <a:endParaRPr lang="en-US" sz="850" dirty="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A0E38699-1562-71AE-464D-63E480C7ACA4}"/>
              </a:ext>
            </a:extLst>
          </p:cNvPr>
          <p:cNvSpPr/>
          <p:nvPr/>
        </p:nvSpPr>
        <p:spPr>
          <a:xfrm>
            <a:off x="1120140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pic>
        <p:nvPicPr>
          <p:cNvPr id="68" name="Imagen 67">
            <a:extLst>
              <a:ext uri="{FF2B5EF4-FFF2-40B4-BE49-F238E27FC236}">
                <a16:creationId xmlns:a16="http://schemas.microsoft.com/office/drawing/2014/main" id="{9E14DCB4-7837-09D5-204E-5C7471BE6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705" y="2402422"/>
            <a:ext cx="2281415" cy="2236035"/>
          </a:xfrm>
          <a:prstGeom prst="rect">
            <a:avLst/>
          </a:prstGeom>
        </p:spPr>
      </p:pic>
      <p:sp>
        <p:nvSpPr>
          <p:cNvPr id="70" name="AutoShape 2" descr="blob:https://web.whatsapp.com/9b942d12-81ab-443d-8dfc-5d1d153241e5">
            <a:extLst>
              <a:ext uri="{FF2B5EF4-FFF2-40B4-BE49-F238E27FC236}">
                <a16:creationId xmlns:a16="http://schemas.microsoft.com/office/drawing/2014/main" id="{B7BF8FEC-6596-30E1-56DA-1D9F9AD58B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2" name="Imagen 71">
            <a:extLst>
              <a:ext uri="{FF2B5EF4-FFF2-40B4-BE49-F238E27FC236}">
                <a16:creationId xmlns:a16="http://schemas.microsoft.com/office/drawing/2014/main" id="{A75BA585-E41C-2C4B-9D33-1777F3EE99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80" b="45269"/>
          <a:stretch/>
        </p:blipFill>
        <p:spPr>
          <a:xfrm>
            <a:off x="1155524" y="2382012"/>
            <a:ext cx="1849472" cy="2331720"/>
          </a:xfrm>
          <a:prstGeom prst="rect">
            <a:avLst/>
          </a:prstGeom>
        </p:spPr>
      </p:pic>
      <p:pic>
        <p:nvPicPr>
          <p:cNvPr id="74" name="Imagen 73">
            <a:extLst>
              <a:ext uri="{FF2B5EF4-FFF2-40B4-BE49-F238E27FC236}">
                <a16:creationId xmlns:a16="http://schemas.microsoft.com/office/drawing/2014/main" id="{B91DF6CC-55C8-7349-5BE8-674B27265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5247" y="2787735"/>
            <a:ext cx="1917826" cy="1352717"/>
          </a:xfrm>
          <a:prstGeom prst="rect">
            <a:avLst/>
          </a:prstGeom>
        </p:spPr>
      </p:pic>
      <p:pic>
        <p:nvPicPr>
          <p:cNvPr id="76" name="Imagen 75">
            <a:extLst>
              <a:ext uri="{FF2B5EF4-FFF2-40B4-BE49-F238E27FC236}">
                <a16:creationId xmlns:a16="http://schemas.microsoft.com/office/drawing/2014/main" id="{6C7932A4-A738-4D79-023E-D4D2017409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4471" y="2520889"/>
            <a:ext cx="2423160" cy="18525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5BEAC4-3A58-30C8-C053-2ADC180C3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6934777-B602-D9BC-E2B4-5EE6EE340A7B}"/>
              </a:ext>
            </a:extLst>
          </p:cNvPr>
          <p:cNvSpPr/>
          <p:nvPr/>
        </p:nvSpPr>
        <p:spPr>
          <a:xfrm>
            <a:off x="10469880" y="6446520"/>
            <a:ext cx="1234440" cy="0"/>
          </a:xfrm>
          <a:prstGeom prst="line">
            <a:avLst/>
          </a:prstGeom>
          <a:noFill/>
          <a:ln w="25400">
            <a:solidFill>
              <a:srgbClr val="2196F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EFCEB7-DDE6-C817-0EAF-F24F0523A708}"/>
              </a:ext>
            </a:extLst>
          </p:cNvPr>
          <p:cNvSpPr/>
          <p:nvPr/>
        </p:nvSpPr>
        <p:spPr>
          <a:xfrm>
            <a:off x="2606040" y="365758"/>
            <a:ext cx="6659075" cy="96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Machine Learning  </a:t>
            </a:r>
            <a:r>
              <a:rPr lang="en-US" sz="3000" b="1" dirty="0" err="1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en</a:t>
            </a:r>
            <a:r>
              <a:rPr lang="en-US" sz="3000" b="1" dirty="0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TaskSyncPro</a:t>
            </a:r>
            <a:r>
              <a:rPr lang="en-US" sz="3000" b="1" dirty="0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: </a:t>
            </a:r>
            <a:r>
              <a:rPr lang="en-US" sz="3000" b="1" dirty="0" err="1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Pradicción</a:t>
            </a:r>
            <a:r>
              <a:rPr lang="en-US" sz="3000" b="1" dirty="0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  y </a:t>
            </a:r>
            <a:r>
              <a:rPr lang="en-US" sz="3000" b="1" dirty="0" err="1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Segmentación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567F3C2-E8AF-F5CE-FE37-E7136B3F0AFE}"/>
              </a:ext>
            </a:extLst>
          </p:cNvPr>
          <p:cNvSpPr/>
          <p:nvPr/>
        </p:nvSpPr>
        <p:spPr>
          <a:xfrm>
            <a:off x="713232" y="1426463"/>
            <a:ext cx="3323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</a:t>
            </a:r>
            <a:r>
              <a:rPr lang="en-US" sz="1350" dirty="0" err="1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ML  </a:t>
            </a:r>
            <a:r>
              <a:rPr lang="en-US" sz="1350" dirty="0" err="1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</a:t>
            </a: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 de </a:t>
            </a:r>
            <a:r>
              <a:rPr lang="en-US" sz="1350" dirty="0" err="1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</a:t>
            </a: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B1C9620-6D30-8541-515D-CCFCA8409235}"/>
              </a:ext>
            </a:extLst>
          </p:cNvPr>
          <p:cNvSpPr/>
          <p:nvPr/>
        </p:nvSpPr>
        <p:spPr>
          <a:xfrm>
            <a:off x="777240" y="1828800"/>
            <a:ext cx="2651760" cy="1207008"/>
          </a:xfrm>
          <a:prstGeom prst="roundRect">
            <a:avLst>
              <a:gd name="adj" fmla="val 9091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32D6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53F02B5-031D-142C-B2A3-77CB4082CDEC}"/>
              </a:ext>
            </a:extLst>
          </p:cNvPr>
          <p:cNvSpPr/>
          <p:nvPr/>
        </p:nvSpPr>
        <p:spPr>
          <a:xfrm>
            <a:off x="777240" y="1828800"/>
            <a:ext cx="54864" cy="1207008"/>
          </a:xfrm>
          <a:prstGeom prst="rect">
            <a:avLst/>
          </a:prstGeom>
          <a:solidFill>
            <a:srgbClr val="32D6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7B337ED-97E9-D741-26C4-C26292DBB544}"/>
              </a:ext>
            </a:extLst>
          </p:cNvPr>
          <p:cNvSpPr/>
          <p:nvPr/>
        </p:nvSpPr>
        <p:spPr>
          <a:xfrm>
            <a:off x="1005840" y="20299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</a:t>
            </a:r>
            <a:r>
              <a:rPr lang="en-US" sz="1450" b="1" dirty="0" err="1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7F6B717-F575-DA2D-6859-117909FF40E0}"/>
              </a:ext>
            </a:extLst>
          </p:cNvPr>
          <p:cNvSpPr/>
          <p:nvPr/>
        </p:nvSpPr>
        <p:spPr>
          <a:xfrm>
            <a:off x="1005840" y="23591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lvl="0"/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 usuario no solo necesita recordatorios; necesita </a:t>
            </a:r>
            <a:r>
              <a:rPr lang="es-MX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entender su propio comportamiento</a:t>
            </a: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 para mejorar su productividad.</a:t>
            </a:r>
          </a:p>
          <a:p>
            <a:br>
              <a:rPr lang="es-MX" sz="1050" dirty="0"/>
            </a:br>
            <a:endParaRPr lang="en-US" sz="10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543FBDC-0643-2347-80FF-2C2BC5E325C2}"/>
              </a:ext>
            </a:extLst>
          </p:cNvPr>
          <p:cNvSpPr/>
          <p:nvPr/>
        </p:nvSpPr>
        <p:spPr>
          <a:xfrm>
            <a:off x="4842237" y="1877866"/>
            <a:ext cx="2651760" cy="1207008"/>
          </a:xfrm>
          <a:prstGeom prst="roundRect">
            <a:avLst>
              <a:gd name="adj" fmla="val 9091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2196F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F53AD2C-3001-E59A-282E-0ADCFC9D34D2}"/>
              </a:ext>
            </a:extLst>
          </p:cNvPr>
          <p:cNvSpPr/>
          <p:nvPr/>
        </p:nvSpPr>
        <p:spPr>
          <a:xfrm>
            <a:off x="4842237" y="1877866"/>
            <a:ext cx="54864" cy="1207008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3E236BC-759A-76E8-5AAD-E961FADC9EB5}"/>
              </a:ext>
            </a:extLst>
          </p:cNvPr>
          <p:cNvSpPr/>
          <p:nvPr/>
        </p:nvSpPr>
        <p:spPr>
          <a:xfrm>
            <a:off x="5070837" y="207903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b="1" dirty="0">
                <a:solidFill>
                  <a:schemeClr val="bg1"/>
                </a:solidFill>
              </a:rPr>
              <a:t>Problema: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A4B2DCE-A271-30E3-3A05-2CD8F8406200}"/>
              </a:ext>
            </a:extLst>
          </p:cNvPr>
          <p:cNvSpPr/>
          <p:nvPr/>
        </p:nvSpPr>
        <p:spPr>
          <a:xfrm>
            <a:off x="5070837" y="240821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¿Cuánto tiempo tardará un usuario en completar sus tareas? ¿Qué tipo de usuario es (productivo, regular, inactivo)?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2475D18-6C5F-20F2-A671-5EA823B2F72F}"/>
              </a:ext>
            </a:extLst>
          </p:cNvPr>
          <p:cNvSpPr/>
          <p:nvPr/>
        </p:nvSpPr>
        <p:spPr>
          <a:xfrm>
            <a:off x="8751786" y="1828800"/>
            <a:ext cx="2651760" cy="1207008"/>
          </a:xfrm>
          <a:prstGeom prst="roundRect">
            <a:avLst>
              <a:gd name="adj" fmla="val 9091"/>
            </a:avLst>
          </a:prstGeom>
          <a:solidFill>
            <a:srgbClr val="111D26">
              <a:alpha val="92000"/>
            </a:srgbClr>
          </a:solidFill>
          <a:ln w="14605">
            <a:solidFill>
              <a:srgbClr val="FF98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5F91D5C-D083-527D-50CC-58D517708C5A}"/>
              </a:ext>
            </a:extLst>
          </p:cNvPr>
          <p:cNvSpPr/>
          <p:nvPr/>
        </p:nvSpPr>
        <p:spPr>
          <a:xfrm>
            <a:off x="8751786" y="1828800"/>
            <a:ext cx="54864" cy="1207008"/>
          </a:xfrm>
          <a:prstGeom prst="rect">
            <a:avLst/>
          </a:prstGeom>
          <a:solidFill>
            <a:srgbClr val="FF98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86DDA31-1A9C-6231-9A68-1A734EB4BBEB}"/>
              </a:ext>
            </a:extLst>
          </p:cNvPr>
          <p:cNvSpPr/>
          <p:nvPr/>
        </p:nvSpPr>
        <p:spPr>
          <a:xfrm>
            <a:off x="8980386" y="20299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b="1" dirty="0">
                <a:solidFill>
                  <a:schemeClr val="bg1"/>
                </a:solidFill>
              </a:rPr>
              <a:t>Solución:</a:t>
            </a:r>
            <a:r>
              <a:rPr lang="es-MX" dirty="0">
                <a:solidFill>
                  <a:schemeClr val="bg1"/>
                </a:solidFill>
              </a:rPr>
              <a:t> 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F040108-2627-C9DE-D21B-C5C13F97F1B5}"/>
              </a:ext>
            </a:extLst>
          </p:cNvPr>
          <p:cNvSpPr/>
          <p:nvPr/>
        </p:nvSpPr>
        <p:spPr>
          <a:xfrm>
            <a:off x="8980386" y="23591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Dos modelos de ML integrados en una API híbrida (Node.js + Python).</a:t>
            </a:r>
            <a:b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B146283-7233-D763-4742-BB35F8C1E01F}"/>
              </a:ext>
            </a:extLst>
          </p:cNvPr>
          <p:cNvSpPr/>
          <p:nvPr/>
        </p:nvSpPr>
        <p:spPr>
          <a:xfrm>
            <a:off x="9646920" y="20299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34C3718-A71D-2FF4-404B-FCD0E62BE2C0}"/>
              </a:ext>
            </a:extLst>
          </p:cNvPr>
          <p:cNvSpPr/>
          <p:nvPr/>
        </p:nvSpPr>
        <p:spPr>
          <a:xfrm>
            <a:off x="594360" y="4055363"/>
            <a:ext cx="5730240" cy="2391155"/>
          </a:xfrm>
          <a:prstGeom prst="roundRect">
            <a:avLst>
              <a:gd name="adj" fmla="val 13462"/>
            </a:avLst>
          </a:prstGeom>
          <a:solidFill>
            <a:srgbClr val="15242E">
              <a:alpha val="92000"/>
            </a:srgbClr>
          </a:solidFill>
          <a:ln w="12700">
            <a:solidFill>
              <a:srgbClr val="32D66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B44207E-CC9F-8154-5E15-CD3743C40662}"/>
              </a:ext>
            </a:extLst>
          </p:cNvPr>
          <p:cNvSpPr/>
          <p:nvPr/>
        </p:nvSpPr>
        <p:spPr>
          <a:xfrm>
            <a:off x="723411" y="4141190"/>
            <a:ext cx="5538158" cy="2305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s-MX" sz="1400" dirty="0">
                <a:solidFill>
                  <a:schemeClr val="bg1"/>
                </a:solidFill>
              </a:rPr>
              <a:t>Extraemos datos desde la vista SQL </a:t>
            </a:r>
            <a:r>
              <a:rPr lang="es-MX" sz="1400" dirty="0" err="1">
                <a:solidFill>
                  <a:schemeClr val="bg1"/>
                </a:solidFill>
              </a:rPr>
              <a:t>vw_ml_data</a:t>
            </a:r>
            <a:r>
              <a:rPr lang="es-MX" sz="1400" dirty="0">
                <a:solidFill>
                  <a:schemeClr val="bg1"/>
                </a:solidFill>
              </a:rPr>
              <a:t>, que consolida por usuario:</a:t>
            </a:r>
          </a:p>
          <a:p>
            <a:pPr lvl="1"/>
            <a:r>
              <a:rPr lang="es-MX" sz="1400" dirty="0" err="1">
                <a:solidFill>
                  <a:schemeClr val="bg1"/>
                </a:solidFill>
              </a:rPr>
              <a:t>total_tareas</a:t>
            </a:r>
            <a:r>
              <a:rPr lang="es-MX" sz="1400" dirty="0">
                <a:solidFill>
                  <a:schemeClr val="bg1"/>
                </a:solidFill>
              </a:rPr>
              <a:t>: Cantidad de tareas registradas.</a:t>
            </a:r>
          </a:p>
          <a:p>
            <a:pPr lvl="1"/>
            <a:r>
              <a:rPr lang="es-MX" sz="1400" dirty="0" err="1">
                <a:solidFill>
                  <a:schemeClr val="bg1"/>
                </a:solidFill>
              </a:rPr>
              <a:t>avg_horas_para_completar</a:t>
            </a:r>
            <a:r>
              <a:rPr lang="es-MX" sz="1400" dirty="0">
                <a:solidFill>
                  <a:schemeClr val="bg1"/>
                </a:solidFill>
              </a:rPr>
              <a:t>: Promedio de horas para completar una tarea.</a:t>
            </a:r>
          </a:p>
          <a:p>
            <a:pPr lvl="1"/>
            <a:r>
              <a:rPr lang="es-MX" sz="1400" dirty="0" err="1">
                <a:solidFill>
                  <a:schemeClr val="bg1"/>
                </a:solidFill>
              </a:rPr>
              <a:t>tareas_completadas</a:t>
            </a:r>
            <a:r>
              <a:rPr lang="es-MX" sz="1400" dirty="0">
                <a:solidFill>
                  <a:schemeClr val="bg1"/>
                </a:solidFill>
              </a:rPr>
              <a:t>: Tareas marcadas como notificadas.</a:t>
            </a:r>
          </a:p>
          <a:p>
            <a:pPr lvl="1"/>
            <a:r>
              <a:rPr lang="es-MX" sz="1400" dirty="0" err="1">
                <a:solidFill>
                  <a:schemeClr val="bg1"/>
                </a:solidFill>
              </a:rPr>
              <a:t>antiguedad_dias</a:t>
            </a:r>
            <a:r>
              <a:rPr lang="es-MX" sz="1400" dirty="0">
                <a:solidFill>
                  <a:schemeClr val="bg1"/>
                </a:solidFill>
              </a:rPr>
              <a:t>: Días desde que el usuario se registró.</a:t>
            </a:r>
          </a:p>
          <a:p>
            <a:r>
              <a:rPr lang="es-MX" sz="1400" i="1" dirty="0">
                <a:solidFill>
                  <a:schemeClr val="bg1"/>
                </a:solidFill>
              </a:rPr>
              <a:t>Estos datos se obtienen de la base de datos MySQL y se procesan con un script ETL en Python.</a:t>
            </a:r>
            <a:endParaRPr lang="es-MX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5FB889F-FF72-B575-3A64-1422E3253DEC}"/>
              </a:ext>
            </a:extLst>
          </p:cNvPr>
          <p:cNvSpPr/>
          <p:nvPr/>
        </p:nvSpPr>
        <p:spPr>
          <a:xfrm>
            <a:off x="1920240" y="52578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dirty="0" err="1"/>
              <a:t>gt</a:t>
            </a:r>
            <a:endParaRPr lang="en-US" sz="12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6548985-C8EA-E091-B245-EBF471B2BE98}"/>
              </a:ext>
            </a:extLst>
          </p:cNvPr>
          <p:cNvSpPr/>
          <p:nvPr/>
        </p:nvSpPr>
        <p:spPr>
          <a:xfrm>
            <a:off x="363517" y="6565389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</a:t>
            </a:r>
            <a:endParaRPr lang="en-US" sz="8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258E677-71D6-51AD-51AE-ECAC4F3B5333}"/>
              </a:ext>
            </a:extLst>
          </p:cNvPr>
          <p:cNvSpPr/>
          <p:nvPr/>
        </p:nvSpPr>
        <p:spPr>
          <a:xfrm>
            <a:off x="1120140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B96"/>
                </a:solidFill>
                <a:latin typeface="Arial" pitchFamily="34" charset="0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F6F17F5-681D-7066-F8C6-0A4306300FD3}"/>
              </a:ext>
            </a:extLst>
          </p:cNvPr>
          <p:cNvSpPr txBox="1"/>
          <p:nvPr/>
        </p:nvSpPr>
        <p:spPr>
          <a:xfrm>
            <a:off x="5313872" y="1009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3AF4E35C-3964-763F-8CF1-24AFF2F4B532}"/>
              </a:ext>
            </a:extLst>
          </p:cNvPr>
          <p:cNvSpPr/>
          <p:nvPr/>
        </p:nvSpPr>
        <p:spPr>
          <a:xfrm>
            <a:off x="713232" y="3360420"/>
            <a:ext cx="3323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</a:t>
            </a:r>
            <a:r>
              <a:rPr lang="en-US" sz="1350" dirty="0" err="1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Utilizados</a:t>
            </a:r>
            <a:r>
              <a:rPr lang="en-US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(Data Mart)</a:t>
            </a:r>
            <a:endParaRPr lang="en-US" sz="1350" dirty="0"/>
          </a:p>
        </p:txBody>
      </p:sp>
      <p:graphicFrame>
        <p:nvGraphicFramePr>
          <p:cNvPr id="35" name="Tabla 34">
            <a:extLst>
              <a:ext uri="{FF2B5EF4-FFF2-40B4-BE49-F238E27FC236}">
                <a16:creationId xmlns:a16="http://schemas.microsoft.com/office/drawing/2014/main" id="{5FC0E005-7105-7F6D-CFD8-4F216F36B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360082"/>
              </p:ext>
            </p:extLst>
          </p:nvPr>
        </p:nvGraphicFramePr>
        <p:xfrm>
          <a:off x="6592824" y="3844664"/>
          <a:ext cx="5730240" cy="2078482"/>
        </p:xfrm>
        <a:graphic>
          <a:graphicData uri="http://schemas.openxmlformats.org/drawingml/2006/table">
            <a:tbl>
              <a:tblPr/>
              <a:tblGrid>
                <a:gridCol w="1910080">
                  <a:extLst>
                    <a:ext uri="{9D8B030D-6E8A-4147-A177-3AD203B41FA5}">
                      <a16:colId xmlns:a16="http://schemas.microsoft.com/office/drawing/2014/main" val="874537332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1210830165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14311982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MX" sz="1125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Tipo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MX" sz="1125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Modelo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MX" sz="1125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Propósito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411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125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Supervisado</a:t>
                      </a:r>
                      <a:endParaRPr lang="es-MX" sz="1125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125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Random Forest, Regresión Lineal, Árbol, </a:t>
                      </a:r>
                      <a:r>
                        <a:rPr lang="es-MX" sz="1125" b="0" dirty="0" err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Gradient</a:t>
                      </a:r>
                      <a:r>
                        <a:rPr lang="es-MX" sz="1125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 </a:t>
                      </a:r>
                      <a:r>
                        <a:rPr lang="es-MX" sz="1125" b="0" dirty="0" err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Boosting</a:t>
                      </a:r>
                      <a:r>
                        <a:rPr lang="es-MX" sz="1125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, KNN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125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Predecir horas promedio para completar una tarea.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32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125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No Supervisado</a:t>
                      </a:r>
                      <a:endParaRPr lang="es-MX" sz="1125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125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K-Means, DBSCAN, Jerárquico, GMM, Mini-Batch K-Means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125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Segmentar usuarios en </a:t>
                      </a:r>
                      <a:r>
                        <a:rPr lang="es-MX" sz="1125" b="0" dirty="0" err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clusters</a:t>
                      </a:r>
                      <a:r>
                        <a:rPr lang="es-MX" sz="1125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 según su productividad.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288069"/>
                  </a:ext>
                </a:extLst>
              </a:tr>
            </a:tbl>
          </a:graphicData>
        </a:graphic>
      </p:graphicFrame>
      <p:sp>
        <p:nvSpPr>
          <p:cNvPr id="46" name="Text 3">
            <a:extLst>
              <a:ext uri="{FF2B5EF4-FFF2-40B4-BE49-F238E27FC236}">
                <a16:creationId xmlns:a16="http://schemas.microsoft.com/office/drawing/2014/main" id="{4F30B1CA-D00F-08C8-9780-2373AB69D7A0}"/>
              </a:ext>
            </a:extLst>
          </p:cNvPr>
          <p:cNvSpPr/>
          <p:nvPr/>
        </p:nvSpPr>
        <p:spPr>
          <a:xfrm>
            <a:off x="7344875" y="3293932"/>
            <a:ext cx="3323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35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modelos utilizamos?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384067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943EF5-E649-9B46-01D6-54AB51A6A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08D39BD1-DB10-5FDB-D80E-67D58330B3F6}"/>
              </a:ext>
            </a:extLst>
          </p:cNvPr>
          <p:cNvSpPr/>
          <p:nvPr/>
        </p:nvSpPr>
        <p:spPr>
          <a:xfrm>
            <a:off x="10469880" y="6446520"/>
            <a:ext cx="1234440" cy="0"/>
          </a:xfrm>
          <a:prstGeom prst="line">
            <a:avLst/>
          </a:prstGeom>
          <a:noFill/>
          <a:ln w="25400">
            <a:solidFill>
              <a:srgbClr val="2196F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6A645A3-DC77-C5B9-18BD-95E464DECAEA}"/>
              </a:ext>
            </a:extLst>
          </p:cNvPr>
          <p:cNvSpPr/>
          <p:nvPr/>
        </p:nvSpPr>
        <p:spPr>
          <a:xfrm>
            <a:off x="594360" y="6446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</a:t>
            </a:r>
            <a:endParaRPr lang="en-US" sz="8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6B11783-5639-66E1-3323-5E1F3237889D}"/>
              </a:ext>
            </a:extLst>
          </p:cNvPr>
          <p:cNvSpPr/>
          <p:nvPr/>
        </p:nvSpPr>
        <p:spPr>
          <a:xfrm>
            <a:off x="1120140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4CD1267C-62B5-291B-B276-B0A7ED12259F}"/>
              </a:ext>
            </a:extLst>
          </p:cNvPr>
          <p:cNvSpPr/>
          <p:nvPr/>
        </p:nvSpPr>
        <p:spPr>
          <a:xfrm>
            <a:off x="502920" y="384048"/>
            <a:ext cx="1234440" cy="0"/>
          </a:xfrm>
          <a:prstGeom prst="line">
            <a:avLst/>
          </a:prstGeom>
          <a:noFill/>
          <a:ln w="25400">
            <a:solidFill>
              <a:srgbClr val="32D66B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1EEA33F0-3841-0DA9-E877-9C6EFCEC5420}"/>
              </a:ext>
            </a:extLst>
          </p:cNvPr>
          <p:cNvSpPr/>
          <p:nvPr/>
        </p:nvSpPr>
        <p:spPr>
          <a:xfrm>
            <a:off x="10469880" y="6446520"/>
            <a:ext cx="1234440" cy="0"/>
          </a:xfrm>
          <a:prstGeom prst="line">
            <a:avLst/>
          </a:prstGeom>
          <a:noFill/>
          <a:ln w="25400">
            <a:solidFill>
              <a:srgbClr val="2196F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D59D280A-CAB6-E398-7666-F7286ED8128B}"/>
              </a:ext>
            </a:extLst>
          </p:cNvPr>
          <p:cNvSpPr/>
          <p:nvPr/>
        </p:nvSpPr>
        <p:spPr>
          <a:xfrm>
            <a:off x="685800" y="667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</a:t>
            </a:r>
            <a:endParaRPr lang="en-US" sz="30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AE407251-2785-5F05-D672-F428711F5B95}"/>
              </a:ext>
            </a:extLst>
          </p:cNvPr>
          <p:cNvSpPr/>
          <p:nvPr/>
        </p:nvSpPr>
        <p:spPr>
          <a:xfrm>
            <a:off x="713232" y="1271015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8659FD41-6F10-983D-AAA3-39446D5DBB9B}"/>
              </a:ext>
            </a:extLst>
          </p:cNvPr>
          <p:cNvSpPr/>
          <p:nvPr/>
        </p:nvSpPr>
        <p:spPr>
          <a:xfrm>
            <a:off x="685800" y="1828800"/>
            <a:ext cx="9258300" cy="3794760"/>
          </a:xfrm>
          <a:prstGeom prst="roundRect">
            <a:avLst>
              <a:gd name="adj" fmla="val 4211"/>
            </a:avLst>
          </a:prstGeom>
          <a:solidFill>
            <a:srgbClr val="15242E">
              <a:alpha val="90000"/>
            </a:srgbClr>
          </a:solidFill>
          <a:ln w="15240">
            <a:solidFill>
              <a:srgbClr val="32D66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68CA19CA-680A-2BA3-F490-AD20F4EDEF67}"/>
              </a:ext>
            </a:extLst>
          </p:cNvPr>
          <p:cNvSpPr/>
          <p:nvPr/>
        </p:nvSpPr>
        <p:spPr>
          <a:xfrm>
            <a:off x="3886200" y="212369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View</a:t>
            </a:r>
            <a:endParaRPr lang="en-US" sz="1500" dirty="0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3F4090ED-9972-8720-658B-D19ED1760FBF}"/>
              </a:ext>
            </a:extLst>
          </p:cNvPr>
          <p:cNvSpPr/>
          <p:nvPr/>
        </p:nvSpPr>
        <p:spPr>
          <a:xfrm>
            <a:off x="4389120" y="5433060"/>
            <a:ext cx="1691640" cy="0"/>
          </a:xfrm>
          <a:prstGeom prst="line">
            <a:avLst/>
          </a:prstGeom>
          <a:noFill/>
          <a:ln w="12700">
            <a:solidFill>
              <a:srgbClr val="00E0C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3545F9B7-764D-CB86-4AB7-FEFE2ECF890A}"/>
              </a:ext>
            </a:extLst>
          </p:cNvPr>
          <p:cNvSpPr/>
          <p:nvPr/>
        </p:nvSpPr>
        <p:spPr>
          <a:xfrm>
            <a:off x="3840480" y="20299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6DAE6128-4847-B3B3-D12C-B6360B5AC179}"/>
              </a:ext>
            </a:extLst>
          </p:cNvPr>
          <p:cNvSpPr/>
          <p:nvPr/>
        </p:nvSpPr>
        <p:spPr>
          <a:xfrm>
            <a:off x="3886200" y="33604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2388A37F-6395-068A-3AA1-C555DF7C82FB}"/>
              </a:ext>
            </a:extLst>
          </p:cNvPr>
          <p:cNvSpPr/>
          <p:nvPr/>
        </p:nvSpPr>
        <p:spPr>
          <a:xfrm>
            <a:off x="8923020" y="5266945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CC18BF1A-5678-5B8D-FC66-8E951DE0AA87}"/>
              </a:ext>
            </a:extLst>
          </p:cNvPr>
          <p:cNvSpPr/>
          <p:nvPr/>
        </p:nvSpPr>
        <p:spPr>
          <a:xfrm>
            <a:off x="9601200" y="20299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1D2C510C-95F8-DFB6-52DC-B92AC4E6244A}"/>
              </a:ext>
            </a:extLst>
          </p:cNvPr>
          <p:cNvSpPr/>
          <p:nvPr/>
        </p:nvSpPr>
        <p:spPr>
          <a:xfrm>
            <a:off x="960120" y="562356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50" dirty="0"/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B9E0363F-BE27-58EA-B834-E32F8C5974E9}"/>
              </a:ext>
            </a:extLst>
          </p:cNvPr>
          <p:cNvSpPr/>
          <p:nvPr/>
        </p:nvSpPr>
        <p:spPr>
          <a:xfrm>
            <a:off x="594360" y="6446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</a:t>
            </a:r>
            <a:endParaRPr lang="en-US" sz="850" dirty="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875BBF3E-1E1A-9995-86FE-100EA4E86E8E}"/>
              </a:ext>
            </a:extLst>
          </p:cNvPr>
          <p:cNvSpPr/>
          <p:nvPr/>
        </p:nvSpPr>
        <p:spPr>
          <a:xfrm>
            <a:off x="1120140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70" name="AutoShape 2" descr="blob:https://web.whatsapp.com/9b942d12-81ab-443d-8dfc-5d1d153241e5">
            <a:extLst>
              <a:ext uri="{FF2B5EF4-FFF2-40B4-BE49-F238E27FC236}">
                <a16:creationId xmlns:a16="http://schemas.microsoft.com/office/drawing/2014/main" id="{6F93DEB9-D0A0-233D-BE39-6139C42574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D0959E-C4CC-219F-7B3F-127C8B9AB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85" y="2710435"/>
            <a:ext cx="6446507" cy="236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87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34440" cy="0"/>
          </a:xfrm>
          <a:prstGeom prst="line">
            <a:avLst/>
          </a:prstGeom>
          <a:noFill/>
          <a:ln w="25400">
            <a:solidFill>
              <a:srgbClr val="32D66B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0469880" y="6446520"/>
            <a:ext cx="1234440" cy="0"/>
          </a:xfrm>
          <a:prstGeom prst="line">
            <a:avLst/>
          </a:prstGeom>
          <a:noFill/>
          <a:ln w="25400">
            <a:solidFill>
              <a:srgbClr val="2196F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" name="Image 0" descr="/mnt/data/a_sleek_futuristic_3d_rendered_tech_scene_on_a_da.png"/>
          <p:cNvPicPr>
            <a:picLocks noChangeAspect="1"/>
          </p:cNvPicPr>
          <p:nvPr/>
        </p:nvPicPr>
        <p:blipFill>
          <a:blip r:embed="rId3"/>
          <a:srcRect l="20085" r="20085"/>
          <a:stretch/>
        </p:blipFill>
        <p:spPr>
          <a:xfrm>
            <a:off x="5943600" y="777240"/>
            <a:ext cx="539496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777240"/>
            <a:ext cx="5394960" cy="5074920"/>
          </a:xfrm>
          <a:prstGeom prst="roundRect">
            <a:avLst>
              <a:gd name="adj" fmla="val 2523"/>
            </a:avLst>
          </a:prstGeom>
          <a:solidFill>
            <a:srgbClr val="000000">
              <a:alpha val="0"/>
            </a:srgbClr>
          </a:solidFill>
          <a:ln w="12700">
            <a:solidFill>
              <a:srgbClr val="32D66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822960" y="1572768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841248" y="23957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2D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tareas, siempre contigo.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41248" y="30632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6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solución que conecta organización, movilidad y tecnología.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4800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594360" y="6446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TaskSyncPro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20140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900</Words>
  <Application>Microsoft Office PowerPoint</Application>
  <PresentationFormat>Panorámica</PresentationFormat>
  <Paragraphs>197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quote-cjk-patch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TaskSyncPro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TaskSyncPro - Presentación para exposición</dc:title>
  <dc:subject>TaskSyncPro presentación en español</dc:subject>
  <dc:creator>OpenAI</dc:creator>
  <cp:lastModifiedBy>Diego Tecorralco</cp:lastModifiedBy>
  <cp:revision>10</cp:revision>
  <dcterms:created xsi:type="dcterms:W3CDTF">2026-08-20T18:37:28Z</dcterms:created>
  <dcterms:modified xsi:type="dcterms:W3CDTF">2026-08-20T20:05:11Z</dcterms:modified>
</cp:coreProperties>
</file>